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配合讲稿第一段。Z 指整个模型的末端输出，dZ 是开始反向传播的梯度；中间任意线性层统一使用 Y 和 dY。步骤③和④都接收同一份 dY，没有必须先算③再算④的数学依赖。dW 是梯度，不是更新后的 W，优化器后续使用它完成更新。第五步表示在串联路径中 dX 成为前一个运算的上游梯度；若存在激活、归一化或残差分支，必须经过相应反向规则和梯度汇总，不能跳过。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假设实数、无偏置线性层，输入与权重都需要梯度。dY 是损失对当前层输出 Y 的梯度，不是 Y 本身。dW = XᵀdY 的归约维度为 M；dX = dYWᵀ 的归约维度为 N。两条公式的输入形状与输出形状均已注明。示例若 M=1、K=4、N=3，则 dY 为 [1,3]，dW 为 [4,3]，dX 为 [1,4]。在直接串联的线性层中，当前层 dX 可直接作为前一层 dY；实际网络有 RMSNorm 或激活等运算时，要先经过这些运算对应的反向，再到前一个线性层。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73152"/>
            <a:ext cx="841248" cy="50292"/>
          </a:xfrm>
          <a:prstGeom prst="rect">
            <a:avLst/>
          </a:prstGeom>
          <a:solidFill>
            <a:srgbClr val="D1D5DB">
              <a:alpha val="82000"/>
            </a:srgbClr>
          </a:solidFill>
          <a:ln w="12700">
            <a:solidFill>
              <a:srgbClr val="D1D5D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463040" y="73152"/>
            <a:ext cx="841248" cy="50292"/>
          </a:xfrm>
          <a:prstGeom prst="rect">
            <a:avLst/>
          </a:prstGeom>
          <a:solidFill>
            <a:srgbClr val="D1D5DB">
              <a:alpha val="82000"/>
            </a:srgbClr>
          </a:solidFill>
          <a:ln w="12700">
            <a:solidFill>
              <a:srgbClr val="D1D5DB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468880" y="73152"/>
            <a:ext cx="841248" cy="50292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474720" y="73152"/>
            <a:ext cx="841248" cy="50292"/>
          </a:xfrm>
          <a:prstGeom prst="rect">
            <a:avLst/>
          </a:prstGeom>
          <a:solidFill>
            <a:srgbClr val="D1D5DB">
              <a:alpha val="82000"/>
            </a:srgbClr>
          </a:solidFill>
          <a:ln w="12700">
            <a:solidFill>
              <a:srgbClr val="D1D5DB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4668012"/>
            <a:ext cx="8229600" cy="16459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4713732"/>
            <a:ext cx="1481328" cy="32004"/>
          </a:xfrm>
          <a:prstGeom prst="rect">
            <a:avLst/>
          </a:prstGeom>
          <a:solidFill>
            <a:srgbClr val="C9302C"/>
          </a:solidFill>
          <a:ln w="12700">
            <a:solidFill>
              <a:srgbClr val="C9302C">
                <a:alpha val="0"/>
              </a:srgbClr>
            </a:solidFill>
            <a:prstDash val="solid"/>
          </a:ln>
        </p:spPr>
      </p:sp>
      <p:sp>
        <p:nvSpPr>
          <p:cNvPr id="8" name="slide-title:content"/>
          <p:cNvSpPr txBox="1"/>
          <p:nvPr/>
        </p:nvSpPr>
        <p:spPr>
          <a:xfrm>
            <a:off x="457200" y="173736"/>
            <a:ext cx="8229600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83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反向传播：逐层重复五步</a:t>
            </a:r>
            <a:endParaRPr lang="en-US" sz="2800" dirty="0"/>
          </a:p>
        </p:txBody>
      </p:sp>
      <p:sp>
        <p:nvSpPr>
          <p:cNvPr id="9" name="metadata:table-index-label"/>
          <p:cNvSpPr txBox="1"/>
          <p:nvPr/>
        </p:nvSpPr>
        <p:spPr>
          <a:xfrm>
            <a:off x="566928" y="1159256"/>
            <a:ext cx="96926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B25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TABLE INDEX</a:t>
            </a:r>
            <a:endParaRPr lang="en-US" sz="900" dirty="0"/>
          </a:p>
        </p:txBody>
      </p:sp>
      <p:sp>
        <p:nvSpPr>
          <p:cNvPr id="10" name="metadata:table-index-detail"/>
          <p:cNvSpPr txBox="1"/>
          <p:nvPr/>
        </p:nvSpPr>
        <p:spPr>
          <a:xfrm>
            <a:off x="1645920" y="1159256"/>
            <a:ext cx="693115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rows | 步骤 | 输入 | 计算 / 操作 | 输出</a:t>
            </a:r>
            <a:endParaRPr lang="en-US" sz="900" dirty="0"/>
          </a:p>
        </p:txBody>
      </p:sp>
      <p:graphicFrame>
        <p:nvGraphicFramePr>
          <p:cNvPr id="2" name="Editable table: 反向传播：逐层重复五步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31346"/>
          <a:ext cx="8229600" cy="2629408"/>
        </p:xfrm>
        <a:graphic>
          <a:graphicData uri="http://schemas.openxmlformats.org/drawingml/2006/table">
            <a:tbl>
              <a:tblPr/>
              <a:tblGrid>
                <a:gridCol w="1623645"/>
                <a:gridCol w="1684239"/>
                <a:gridCol w="2803685"/>
                <a:gridCol w="2118031"/>
              </a:tblGrid>
              <a:tr h="3515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步骤</a:t>
                      </a:r>
                      <a:endParaRPr lang="en-US" sz="16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输入</a:t>
                      </a:r>
                      <a:endParaRPr lang="en-US" sz="16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计算 / 操作</a:t>
                      </a:r>
                      <a:endParaRPr lang="en-US" sz="16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输出</a:t>
                      </a:r>
                      <a:endParaRPr lang="en-US" sz="16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B2545"/>
                    </a:solidFill>
                  </a:tcPr>
                </a:tc>
              </a:tr>
              <a:tr h="6116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B28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① 从 Loss 开始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B28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最终输出 Z、目标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B28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计算 Loss，再求末端梯度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B28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dZ = ∂Loss/∂Z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515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B28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② 回到当前层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B28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后面传来的 dY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B28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取出前向保存的输入和权重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B28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X、W、dY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6116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B28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③ 求权重梯度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B28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X、dY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B28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dW = Xᵀ × dY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B28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dW：供优化器更新 W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515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B28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④ 求输入梯度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B28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dY、W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B28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dX = dY × Wᵀ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B28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dX：传给前面的模块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515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B28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⑤ 继续向前传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B28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当前层的 dX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B28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将 dX 作为前一层的 dY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B28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在前一层重复 ②–④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Shape 9"/>
          <p:cNvSpPr/>
          <p:nvPr/>
        </p:nvSpPr>
        <p:spPr>
          <a:xfrm>
            <a:off x="457200" y="4814316"/>
            <a:ext cx="8229600" cy="18288"/>
          </a:xfrm>
          <a:prstGeom prst="rect">
            <a:avLst/>
          </a:prstGeom>
          <a:solidFill>
            <a:srgbClr val="D1D5D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metadata:footer-sources"/>
          <p:cNvSpPr txBox="1"/>
          <p:nvPr/>
        </p:nvSpPr>
        <p:spPr>
          <a:xfrm>
            <a:off x="457200" y="4869180"/>
            <a:ext cx="7580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线性层示意：Y = XW；T 表示转置</a:t>
            </a:r>
            <a:endParaRPr lang="en-US" sz="900" dirty="0"/>
          </a:p>
        </p:txBody>
      </p:sp>
      <p:sp>
        <p:nvSpPr>
          <p:cNvPr id="14" name="metadata:footer-page-number"/>
          <p:cNvSpPr txBox="1"/>
          <p:nvPr/>
        </p:nvSpPr>
        <p:spPr>
          <a:xfrm>
            <a:off x="8183880" y="486918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1/2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73152"/>
            <a:ext cx="841248" cy="50292"/>
          </a:xfrm>
          <a:prstGeom prst="rect">
            <a:avLst/>
          </a:prstGeom>
          <a:solidFill>
            <a:srgbClr val="D1D5DB">
              <a:alpha val="82000"/>
            </a:srgbClr>
          </a:solidFill>
          <a:ln w="12700">
            <a:solidFill>
              <a:srgbClr val="D1D5D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463040" y="73152"/>
            <a:ext cx="841248" cy="50292"/>
          </a:xfrm>
          <a:prstGeom prst="rect">
            <a:avLst/>
          </a:prstGeom>
          <a:solidFill>
            <a:srgbClr val="D1D5DB">
              <a:alpha val="82000"/>
            </a:srgbClr>
          </a:solidFill>
          <a:ln w="12700">
            <a:solidFill>
              <a:srgbClr val="D1D5DB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468880" y="73152"/>
            <a:ext cx="841248" cy="50292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474720" y="73152"/>
            <a:ext cx="841248" cy="50292"/>
          </a:xfrm>
          <a:prstGeom prst="rect">
            <a:avLst/>
          </a:prstGeom>
          <a:solidFill>
            <a:srgbClr val="D1D5DB">
              <a:alpha val="82000"/>
            </a:srgbClr>
          </a:solidFill>
          <a:ln w="12700">
            <a:solidFill>
              <a:srgbClr val="D1D5DB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4668012"/>
            <a:ext cx="8229600" cy="16459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4713732"/>
            <a:ext cx="1481328" cy="32004"/>
          </a:xfrm>
          <a:prstGeom prst="rect">
            <a:avLst/>
          </a:prstGeom>
          <a:solidFill>
            <a:srgbClr val="C9302C"/>
          </a:solidFill>
          <a:ln w="12700">
            <a:solidFill>
              <a:srgbClr val="C9302C">
                <a:alpha val="0"/>
              </a:srgbClr>
            </a:solidFill>
            <a:prstDash val="solid"/>
          </a:ln>
        </p:spPr>
      </p:sp>
      <p:sp>
        <p:nvSpPr>
          <p:cNvPr id="8" name="slide-title:content"/>
          <p:cNvSpPr txBox="1"/>
          <p:nvPr/>
        </p:nvSpPr>
        <p:spPr>
          <a:xfrm>
            <a:off x="457200" y="173736"/>
            <a:ext cx="8229600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83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一个线性层，反向计算两种梯度</a:t>
            </a:r>
            <a:endParaRPr lang="en-US" sz="2800" dirty="0"/>
          </a:p>
        </p:txBody>
      </p:sp>
      <p:sp>
        <p:nvSpPr>
          <p:cNvPr id="9" name="support:slide-subtitle"/>
          <p:cNvSpPr txBox="1"/>
          <p:nvPr/>
        </p:nvSpPr>
        <p:spPr>
          <a:xfrm>
            <a:off x="457200" y="73863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前向：X [M,K] × W [K,N] → Y [M,N]；反向接收：dY [M,N]。</a:t>
            </a:r>
            <a:endParaRPr lang="en-US" sz="1300" dirty="0"/>
          </a:p>
        </p:txBody>
      </p:sp>
      <p:sp>
        <p:nvSpPr>
          <p:cNvPr id="10" name="role-contract-slot:comparison:option-0"/>
          <p:cNvSpPr/>
          <p:nvPr/>
        </p:nvSpPr>
        <p:spPr>
          <a:xfrm>
            <a:off x="457200" y="1415288"/>
            <a:ext cx="3950208" cy="2046630"/>
          </a:xfrm>
          <a:prstGeom prst="rect">
            <a:avLst/>
          </a:prstGeom>
          <a:solidFill>
            <a:srgbClr val="FFFFFF"/>
          </a:solidFill>
          <a:ln w="8255">
            <a:solidFill>
              <a:srgbClr val="D1D5DB"/>
            </a:solidFill>
            <a:prstDash val="solid"/>
          </a:ln>
        </p:spPr>
      </p:sp>
      <p:sp>
        <p:nvSpPr>
          <p:cNvPr id="11" name="comparison:0:title"/>
          <p:cNvSpPr txBox="1"/>
          <p:nvPr/>
        </p:nvSpPr>
        <p:spPr>
          <a:xfrm>
            <a:off x="603504" y="1561592"/>
            <a:ext cx="3657600" cy="397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③ 权重梯度 dW</a:t>
            </a:r>
            <a:endParaRPr lang="en-US" sz="1600" dirty="0"/>
          </a:p>
        </p:txBody>
      </p:sp>
      <p:sp>
        <p:nvSpPr>
          <p:cNvPr id="12" name="comparison:0:body"/>
          <p:cNvSpPr txBox="1"/>
          <p:nvPr/>
        </p:nvSpPr>
        <p:spPr>
          <a:xfrm>
            <a:off x="603504" y="2050288"/>
            <a:ext cx="3657600" cy="1177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dW = Xᵀ × dY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输入：Xᵀ [K,M]、dY [M,N]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输出：dW [K,N]，与 W 同形状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作用：供优化器更新当前层权重</a:t>
            </a:r>
            <a:endParaRPr lang="en-US" sz="1600" dirty="0"/>
          </a:p>
        </p:txBody>
      </p:sp>
      <p:sp>
        <p:nvSpPr>
          <p:cNvPr id="13" name="role-contract-slot:comparison:option-1"/>
          <p:cNvSpPr/>
          <p:nvPr/>
        </p:nvSpPr>
        <p:spPr>
          <a:xfrm>
            <a:off x="4736592" y="1415288"/>
            <a:ext cx="3950208" cy="2046630"/>
          </a:xfrm>
          <a:prstGeom prst="rect">
            <a:avLst/>
          </a:prstGeom>
          <a:solidFill>
            <a:srgbClr val="FFFFFF"/>
          </a:solidFill>
          <a:ln w="8255">
            <a:solidFill>
              <a:srgbClr val="D1D5DB"/>
            </a:solidFill>
            <a:prstDash val="solid"/>
          </a:ln>
        </p:spPr>
      </p:sp>
      <p:sp>
        <p:nvSpPr>
          <p:cNvPr id="14" name="comparison:1:title"/>
          <p:cNvSpPr txBox="1"/>
          <p:nvPr/>
        </p:nvSpPr>
        <p:spPr>
          <a:xfrm>
            <a:off x="4882896" y="1561592"/>
            <a:ext cx="3657600" cy="397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C9302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④ 输入梯度 dX</a:t>
            </a:r>
            <a:endParaRPr lang="en-US" sz="1600" dirty="0"/>
          </a:p>
        </p:txBody>
      </p:sp>
      <p:sp>
        <p:nvSpPr>
          <p:cNvPr id="15" name="comparison:1:body"/>
          <p:cNvSpPr txBox="1"/>
          <p:nvPr/>
        </p:nvSpPr>
        <p:spPr>
          <a:xfrm>
            <a:off x="4882896" y="2050288"/>
            <a:ext cx="3657600" cy="1177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dX = dY × Wᵀ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输入：dY [M,N]、Wᵀ [N,K]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输出：dX [M,K]，与 X 同形状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作用：将梯度继续传向前面的模块</a:t>
            </a:r>
            <a:endParaRPr lang="en-US" sz="1600" dirty="0"/>
          </a:p>
        </p:txBody>
      </p:sp>
      <p:sp>
        <p:nvSpPr>
          <p:cNvPr id="16" name="role-contract-slot:comparison:verdict"/>
          <p:cNvSpPr/>
          <p:nvPr/>
        </p:nvSpPr>
        <p:spPr>
          <a:xfrm>
            <a:off x="1938528" y="3717747"/>
            <a:ext cx="5266944" cy="895401"/>
          </a:xfrm>
          <a:prstGeom prst="rect">
            <a:avLst/>
          </a:prstGeom>
          <a:solidFill>
            <a:srgbClr val="0B2545"/>
          </a:solidFill>
          <a:ln w="8255">
            <a:solidFill>
              <a:srgbClr val="C9302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2029968" y="3836772"/>
            <a:ext cx="5084064" cy="657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⑤ 接力：本层 dX → 前一运算的输出梯度 dY → 继续反向传播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57200" y="4814316"/>
            <a:ext cx="8229600" cy="18288"/>
          </a:xfrm>
          <a:prstGeom prst="rect">
            <a:avLst/>
          </a:prstGeom>
          <a:solidFill>
            <a:srgbClr val="D1D5D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metadata:footer-sources"/>
          <p:cNvSpPr txBox="1"/>
          <p:nvPr/>
        </p:nvSpPr>
        <p:spPr>
          <a:xfrm>
            <a:off x="457200" y="4869180"/>
            <a:ext cx="7580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M：输入行数 · K：输入维度 · N：输出维度 · T：交换矩阵行列</a:t>
            </a:r>
            <a:endParaRPr lang="en-US" sz="900" dirty="0"/>
          </a:p>
        </p:txBody>
      </p:sp>
      <p:sp>
        <p:nvSpPr>
          <p:cNvPr id="20" name="metadata:footer-page-number"/>
          <p:cNvSpPr txBox="1"/>
          <p:nvPr/>
        </p:nvSpPr>
        <p:spPr>
          <a:xfrm>
            <a:off x="8183880" y="486918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2/2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反向传播：五个步骤与线性层的输入输出</dc:title>
  <dc:subject/>
  <dc:creator>Presentation Team</dc:creator>
  <cp:lastModifiedBy>Presentation Team</cp:lastModifiedBy>
  <cp:revision>1</cp:revision>
  <dcterms:created xsi:type="dcterms:W3CDTF">2026-10-19T01:58:49Z</dcterms:created>
  <dcterms:modified xsi:type="dcterms:W3CDTF">2026-10-19T01:58:49Z</dcterms:modified>
</cp:coreProperties>
</file>