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对应演讲稿 07 FLOPs · Forward。输入 X[M,K] 乘 W[K,N]，输出 Y[M,N]。输出共有 MN 个元素，每个元素是长度为 K 的 Dot Product，包含 K 次 Multiplication 和 K−1 次 Addition。逐项运算计数为 MN(2K−1)。通常按每次乘加计两次 FLOPs，使用 2MKN 近似。这里统计无 Bias 的 Matrix Multiplication。图中箭头表示输入经权重映射得到输出，权重本身不是中间激活。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先看四列乘法：x1w1、x2w2、x3w3、x4w4，得到 p1 到 p4，共四次 Multiplication。然后依次计算 s1=p1+p2、s2=s1+p3、y=s2+p4，共三次 Addition。因此 Exact Arithmetic Count 为 7 FLOPs。2K 近似为 8，比精确计数多一个 Addition；K=4 的小例子用于看清计数，K 较大时相对差异 1/(2K−1) 较小。推广到 MN 个输出就得到常用的 2MKN。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严格对照 DeepSeek_V4_1_Presentation_Script_Formatted.docx 第 07 节。Forward 数据流为 X → W_QA → RMSNorm → W_QB → Reshape [1,64,512]。RMSNorm 保持 1280 维，本页只统计两个 Linear Projection 的矩阵乘法。QA：2×1×5120×1280=13,107,200 FLOPs。QB：2×1×1280×32768=83,886,080 FLOPs。合计 96,993,280 FLOPs，按十进制单位约 97 MFLOPs/Token/Layer。正常 Decode 的 40 层主干都执行这两次 Query Projection，40×96,993,280=3,879,731,200 FLOPs，约 3.88 GFLOPs。备查 Exact Arithmetic Count：QA=1×1280×(2×5120−1)=13,105,920；QB=1×32768×(2×1280−1)=83,853,312；合计 96,959,232 FLOPs。页面主要结果使用 Approximate FLOPs，Exact 仅放在 Notes 备查。接下来进入原有 Backward 两页：训练从 Loss 开始，沿计算图传递 Gradient。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配合讲稿第一段。Z 指整个模型的末端输出，dZ 是开始反向传播的梯度；中间任意线性层统一使用 Y 和 dY。步骤③和④都接收同一份 dY，没有必须先算③再算④的数学依赖。dW 是梯度，不是更新后的 W，优化器后续使用它完成更新。第五步表示在串联路径中 dX 成为前一个运算的上游梯度；若存在激活、归一化或残差分支，必须经过相应反向规则和梯度汇总，不能跳过。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假设实数、无偏置线性层，输入与权重都需要梯度。dY 是损失对当前层输出 Y 的梯度，不是 Y 本身。dW = XᵀdY 的归约维度为 M；dX = dYWᵀ 的归约维度为 N。两条公式的输入形状与输出形状均已注明。示例若 M=1、K=4、N=3，则 dY 为 [1,3]，dW 为 [4,3]，dX 为 [1,4]。在直接串联的线性层中，当前层 dX 可直接作为前一层 dY；实际网络有 RMSNorm 或激活等运算时，要先经过这些运算对应的反向，再到前一个线性层。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Forward：Matrix Multiplication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Layer：Y = XW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570990"/>
            <a:ext cx="2584704" cy="189992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1" name="metadata:flow-0-index"/>
          <p:cNvSpPr txBox="1"/>
          <p:nvPr/>
        </p:nvSpPr>
        <p:spPr>
          <a:xfrm>
            <a:off x="585216" y="1653286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900" dirty="0"/>
          </a:p>
        </p:txBody>
      </p:sp>
      <p:sp>
        <p:nvSpPr>
          <p:cNvPr id="12" name="flow:0:title"/>
          <p:cNvSpPr txBox="1"/>
          <p:nvPr/>
        </p:nvSpPr>
        <p:spPr>
          <a:xfrm>
            <a:off x="585216" y="1936750"/>
            <a:ext cx="2328672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输入 X [M,K]</a:t>
            </a:r>
            <a:endParaRPr lang="en-US" sz="1600" dirty="0"/>
          </a:p>
        </p:txBody>
      </p:sp>
      <p:sp>
        <p:nvSpPr>
          <p:cNvPr id="13" name="flow:0:detail"/>
          <p:cNvSpPr txBox="1"/>
          <p:nvPr/>
        </p:nvSpPr>
        <p:spPr>
          <a:xfrm>
            <a:off x="585216" y="2462022"/>
            <a:ext cx="2328672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行输入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每行 K 个元素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78480" y="2520950"/>
            <a:ext cx="164592" cy="0"/>
          </a:xfrm>
          <a:prstGeom prst="line">
            <a:avLst/>
          </a:prstGeom>
          <a:noFill/>
          <a:ln w="1143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279648" y="1570990"/>
            <a:ext cx="2584704" cy="189992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6" name="metadata:flow-1-index"/>
          <p:cNvSpPr txBox="1"/>
          <p:nvPr/>
        </p:nvSpPr>
        <p:spPr>
          <a:xfrm>
            <a:off x="3407664" y="1653286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900" dirty="0"/>
          </a:p>
        </p:txBody>
      </p:sp>
      <p:sp>
        <p:nvSpPr>
          <p:cNvPr id="17" name="flow:1:title"/>
          <p:cNvSpPr txBox="1"/>
          <p:nvPr/>
        </p:nvSpPr>
        <p:spPr>
          <a:xfrm>
            <a:off x="3407664" y="1936750"/>
            <a:ext cx="2328672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权重 W [K,N]</a:t>
            </a:r>
            <a:endParaRPr lang="en-US" sz="1600" dirty="0"/>
          </a:p>
        </p:txBody>
      </p:sp>
      <p:sp>
        <p:nvSpPr>
          <p:cNvPr id="18" name="flow:1:detail"/>
          <p:cNvSpPr txBox="1"/>
          <p:nvPr/>
        </p:nvSpPr>
        <p:spPr>
          <a:xfrm>
            <a:off x="3407664" y="2462022"/>
            <a:ext cx="2328672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每行输入 × N 列权重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 Dot Product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长度为 K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900928" y="2520950"/>
            <a:ext cx="164592" cy="0"/>
          </a:xfrm>
          <a:prstGeom prst="line">
            <a:avLst/>
          </a:prstGeom>
          <a:noFill/>
          <a:ln w="11430">
            <a:solidFill>
              <a:srgbClr val="4B5563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102096" y="1570990"/>
            <a:ext cx="2584704" cy="189992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21" name="metadata:flow-2-index"/>
          <p:cNvSpPr txBox="1"/>
          <p:nvPr/>
        </p:nvSpPr>
        <p:spPr>
          <a:xfrm>
            <a:off x="6230112" y="1653286"/>
            <a:ext cx="23286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900" dirty="0"/>
          </a:p>
        </p:txBody>
      </p:sp>
      <p:sp>
        <p:nvSpPr>
          <p:cNvPr id="22" name="flow:2:title"/>
          <p:cNvSpPr txBox="1"/>
          <p:nvPr/>
        </p:nvSpPr>
        <p:spPr>
          <a:xfrm>
            <a:off x="6230112" y="1936750"/>
            <a:ext cx="2328672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输出 Y [M,N]</a:t>
            </a:r>
            <a:endParaRPr lang="en-US" sz="1600" dirty="0"/>
          </a:p>
        </p:txBody>
      </p:sp>
      <p:sp>
        <p:nvSpPr>
          <p:cNvPr id="23" name="flow:2:detail"/>
          <p:cNvSpPr txBox="1"/>
          <p:nvPr/>
        </p:nvSpPr>
        <p:spPr>
          <a:xfrm>
            <a:off x="6230112" y="2462022"/>
            <a:ext cx="2328672" cy="917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× N 个输出元素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每个：K 次乘法 +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(K−1) 次加法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" y="3772916"/>
            <a:ext cx="8229600" cy="803656"/>
          </a:xfrm>
          <a:prstGeom prst="rect">
            <a:avLst/>
          </a:prstGeom>
          <a:solidFill>
            <a:srgbClr val="FFFFFF"/>
          </a:solidFill>
          <a:ln w="7620">
            <a:solidFill>
              <a:srgbClr val="D1D5DB"/>
            </a:solidFill>
            <a:prstDash val="solid"/>
          </a:ln>
        </p:spPr>
      </p:sp>
      <p:sp>
        <p:nvSpPr>
          <p:cNvPr id="25" name="flow:readout"/>
          <p:cNvSpPr txBox="1"/>
          <p:nvPr/>
        </p:nvSpPr>
        <p:spPr>
          <a:xfrm>
            <a:off x="585216" y="3846068"/>
            <a:ext cx="7973568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Exact：FLOPs = MN(2K−1)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常用近似：FLOPs ≈ 2MKN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Sources: M：输入行数（Token 数量） · K：输入维度 · N：输出维度</a:t>
            </a:r>
            <a:endParaRPr lang="en-US" sz="900" dirty="0"/>
          </a:p>
        </p:txBody>
      </p:sp>
      <p:sp>
        <p:nvSpPr>
          <p:cNvPr id="28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Forward：为什么是 2MKN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x₁w₁ + x₂w₂ + x₃w₃ + x₄w₄ （K = 4）</a:t>
            </a:r>
            <a:endParaRPr lang="en-US" sz="1300" dirty="0"/>
          </a:p>
        </p:txBody>
      </p:sp>
      <p:sp>
        <p:nvSpPr>
          <p:cNvPr id="10" name="metadata:table-index-label"/>
          <p:cNvSpPr txBox="1"/>
          <p:nvPr/>
        </p:nvSpPr>
        <p:spPr>
          <a:xfrm>
            <a:off x="566928" y="1488440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1" name="metadata:table-index-detail"/>
          <p:cNvSpPr txBox="1"/>
          <p:nvPr/>
        </p:nvSpPr>
        <p:spPr>
          <a:xfrm>
            <a:off x="1645920" y="1488440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rows | 操作 | ① | ② | ③ | ④</a:t>
            </a:r>
            <a:endParaRPr lang="en-US" sz="900" dirty="0"/>
          </a:p>
        </p:txBody>
      </p:sp>
      <p:graphicFrame>
        <p:nvGraphicFramePr>
          <p:cNvPr id="3" name="Editable table: Forward：为什么是 2MKN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36496"/>
          <a:ext cx="8229600" cy="1540764"/>
        </p:xfrm>
        <a:graphic>
          <a:graphicData uri="http://schemas.openxmlformats.org/drawingml/2006/table">
            <a:tbl>
              <a:tblPr/>
              <a:tblGrid>
                <a:gridCol w="1479678"/>
                <a:gridCol w="1687480"/>
                <a:gridCol w="1687480"/>
                <a:gridCol w="1687480"/>
                <a:gridCol w="1687480"/>
              </a:tblGrid>
              <a:tr h="385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操作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①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②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③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④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385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Multiplication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x₁ × w₁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x₂ × w₂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x₃ × w₃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x₄ × w₄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5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乘法结果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p₁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p₄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85191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s₁ = p₁ + p₂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s₂ = s₁ + p₃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 = s₂ + p₄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metadata:table-caption"/>
          <p:cNvSpPr txBox="1"/>
          <p:nvPr/>
        </p:nvSpPr>
        <p:spPr>
          <a:xfrm>
            <a:off x="457200" y="3550412"/>
            <a:ext cx="82296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较大时，一次 Addition 的差异占比很小；对 M × N 个输出使用 2MKN 简化估算。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25316"/>
            <a:ext cx="8229600" cy="0"/>
          </a:xfrm>
          <a:prstGeom prst="line">
            <a:avLst/>
          </a:prstGeom>
          <a:noFill/>
          <a:ln w="8255">
            <a:solidFill>
              <a:srgbClr val="D1D5DB"/>
            </a:solidFill>
            <a:prstDash val="solid"/>
          </a:ln>
        </p:spPr>
      </p:sp>
      <p:sp>
        <p:nvSpPr>
          <p:cNvPr id="15" name="metadata:table-readout-label"/>
          <p:cNvSpPr txBox="1"/>
          <p:nvPr/>
        </p:nvSpPr>
        <p:spPr>
          <a:xfrm>
            <a:off x="603504" y="3998468"/>
            <a:ext cx="78638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READOUT</a:t>
            </a:r>
            <a:endParaRPr lang="en-US" sz="900" dirty="0"/>
          </a:p>
        </p:txBody>
      </p:sp>
      <p:sp>
        <p:nvSpPr>
          <p:cNvPr id="16" name="support:table-readout"/>
          <p:cNvSpPr txBox="1"/>
          <p:nvPr/>
        </p:nvSpPr>
        <p:spPr>
          <a:xfrm>
            <a:off x="1426464" y="3998468"/>
            <a:ext cx="7114032" cy="55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次 Multiplication + 3 次 Addition = 7 FLOPs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Exact：2K−1 = 7 | Approximate：2K = 8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Sources: Dot Product 示例：每次 Multiplication / Addition 各计 1 FLOP</a:t>
            </a:r>
            <a:endParaRPr lang="en-US" sz="900" dirty="0"/>
          </a:p>
        </p:txBody>
      </p:sp>
      <p:sp>
        <p:nvSpPr>
          <p:cNvPr id="19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DeepSeek Query Low-rank Projection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当前处理 1 个 Token：M = 1 | Approximate FLOPs ≈ 2MKN</a:t>
            </a:r>
            <a:endParaRPr lang="en-US" sz="1300" dirty="0"/>
          </a:p>
        </p:txBody>
      </p:sp>
      <p:sp>
        <p:nvSpPr>
          <p:cNvPr id="10" name="role-contract-slot:comparison:option-0"/>
          <p:cNvSpPr/>
          <p:nvPr/>
        </p:nvSpPr>
        <p:spPr>
          <a:xfrm>
            <a:off x="457200" y="1415288"/>
            <a:ext cx="3950208" cy="2321052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1" name="comparison:0:title"/>
          <p:cNvSpPr txBox="1"/>
          <p:nvPr/>
        </p:nvSpPr>
        <p:spPr>
          <a:xfrm>
            <a:off x="603504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① W_QA · 5120 → 1280</a:t>
            </a:r>
            <a:endParaRPr lang="en-US" sz="1600" dirty="0"/>
          </a:p>
        </p:txBody>
      </p:sp>
      <p:sp>
        <p:nvSpPr>
          <p:cNvPr id="12" name="comparison:0:body"/>
          <p:cNvSpPr txBox="1"/>
          <p:nvPr/>
        </p:nvSpPr>
        <p:spPr>
          <a:xfrm>
            <a:off x="603504" y="2050288"/>
            <a:ext cx="3657600" cy="143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[1,5120] × Weight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[5120,1280]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 [1,1280]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≈ 2 × 1 × 5120 × 1280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13,107,200 ≈ 13.11 MFLOPs</a:t>
            </a:r>
            <a:endParaRPr lang="en-US" sz="1600" dirty="0"/>
          </a:p>
        </p:txBody>
      </p:sp>
      <p:sp>
        <p:nvSpPr>
          <p:cNvPr id="13" name="role-contract-slot:comparison:option-1"/>
          <p:cNvSpPr/>
          <p:nvPr/>
        </p:nvSpPr>
        <p:spPr>
          <a:xfrm>
            <a:off x="4736592" y="1415288"/>
            <a:ext cx="3950208" cy="2321052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comparison:1:title"/>
          <p:cNvSpPr txBox="1"/>
          <p:nvPr/>
        </p:nvSpPr>
        <p:spPr>
          <a:xfrm>
            <a:off x="4882896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② W_QB · 1280 → 32768</a:t>
            </a:r>
            <a:endParaRPr lang="en-US" sz="1600" dirty="0"/>
          </a:p>
        </p:txBody>
      </p:sp>
      <p:sp>
        <p:nvSpPr>
          <p:cNvPr id="15" name="comparison:1:body"/>
          <p:cNvSpPr txBox="1"/>
          <p:nvPr/>
        </p:nvSpPr>
        <p:spPr>
          <a:xfrm>
            <a:off x="4882896" y="2050288"/>
            <a:ext cx="3657600" cy="143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[1,1280] × Weight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[1280,32768]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Output [1,32768]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FLOPs ≈ 2 × 1 × 1280 × 32768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83,886,080 ≈ 83.89 MFLOPs</a:t>
            </a:r>
            <a:endParaRPr lang="en-US" sz="1600" dirty="0"/>
          </a:p>
        </p:txBody>
      </p:sp>
      <p:sp>
        <p:nvSpPr>
          <p:cNvPr id="16" name="role-contract-slot:comparison:verdict"/>
          <p:cNvSpPr/>
          <p:nvPr/>
        </p:nvSpPr>
        <p:spPr>
          <a:xfrm>
            <a:off x="457200" y="3846068"/>
            <a:ext cx="8229600" cy="767080"/>
          </a:xfrm>
          <a:prstGeom prst="rect">
            <a:avLst/>
          </a:prstGeom>
          <a:solidFill>
            <a:srgbClr val="0B2545"/>
          </a:solidFill>
          <a:ln w="8255">
            <a:solidFill>
              <a:srgbClr val="C93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3919220"/>
            <a:ext cx="8046720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合计：13,107,200 + 83,886,080 = 96,993,280 FLOPs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≈ 97 MFLOPs / Token / Layer；40 × 96,993,280 ≈ 3.88 GFLOPs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Sources: 范围：仅 W_QA、W_QB 矩阵乘法；不含 RMSNorm、Attention 其他计算与 MoE。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反向传播：逐层重复五步</a:t>
            </a:r>
            <a:endParaRPr lang="en-US" sz="2800" dirty="0"/>
          </a:p>
        </p:txBody>
      </p:sp>
      <p:sp>
        <p:nvSpPr>
          <p:cNvPr id="9" name="metadata:table-index-label"/>
          <p:cNvSpPr txBox="1"/>
          <p:nvPr/>
        </p:nvSpPr>
        <p:spPr>
          <a:xfrm>
            <a:off x="566928" y="1159256"/>
            <a:ext cx="9692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TABLE INDEX</a:t>
            </a:r>
            <a:endParaRPr lang="en-US" sz="900" dirty="0"/>
          </a:p>
        </p:txBody>
      </p:sp>
      <p:sp>
        <p:nvSpPr>
          <p:cNvPr id="10" name="metadata:table-index-detail"/>
          <p:cNvSpPr txBox="1"/>
          <p:nvPr/>
        </p:nvSpPr>
        <p:spPr>
          <a:xfrm>
            <a:off x="1645920" y="1159256"/>
            <a:ext cx="69311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rows | 步骤 | 输入 | 计算 / 操作 | 输出</a:t>
            </a:r>
            <a:endParaRPr lang="en-US" sz="900" dirty="0"/>
          </a:p>
        </p:txBody>
      </p:sp>
      <p:graphicFrame>
        <p:nvGraphicFramePr>
          <p:cNvPr id="5" name="Editable table: 反向传播：逐层重复五步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31346"/>
          <a:ext cx="8229600" cy="2629408"/>
        </p:xfrm>
        <a:graphic>
          <a:graphicData uri="http://schemas.openxmlformats.org/drawingml/2006/table">
            <a:tbl>
              <a:tblPr/>
              <a:tblGrid>
                <a:gridCol w="1623645"/>
                <a:gridCol w="1684239"/>
                <a:gridCol w="2803685"/>
                <a:gridCol w="2118031"/>
              </a:tblGrid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步骤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输入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计算 / 操作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输出</a:t>
                      </a:r>
                      <a:endParaRPr lang="en-US" sz="16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545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① 从 Loss 开始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最终输出 Z、目标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 Loss，再求末端梯度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dZ = ∂Loss/∂Z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② 回到当前层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后面传来的 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取出前向保存的输入和权重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X、W、dY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116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③ 求权重梯度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X、dY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 = Xᵀ × 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dW：供优化器更新 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④ 求输入梯度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dY、W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 = dY × Wᵀ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dX：传给前面的模块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515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⑤ 继续向前传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当前层的 dX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将 dX 作为前一层的 dY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B283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在前一层重复 ②–④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6576" marR="36576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Sources: 线性层示意：Y = XW；T 表示转置</a:t>
            </a:r>
            <a:endParaRPr lang="en-US" sz="900" dirty="0"/>
          </a:p>
        </p:txBody>
      </p:sp>
      <p:sp>
        <p:nvSpPr>
          <p:cNvPr id="14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46304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468880" y="73152"/>
            <a:ext cx="841248" cy="502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474720" y="73152"/>
            <a:ext cx="841248" cy="50292"/>
          </a:xfrm>
          <a:prstGeom prst="rect">
            <a:avLst/>
          </a:prstGeom>
          <a:solidFill>
            <a:srgbClr val="D1D5DB">
              <a:alpha val="82000"/>
            </a:srgbClr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4668012"/>
            <a:ext cx="8229600" cy="16459"/>
          </a:xfrm>
          <a:prstGeom prst="rect">
            <a:avLst/>
          </a:prstGeom>
          <a:solidFill>
            <a:srgbClr val="D1D5DB"/>
          </a:solidFill>
          <a:ln w="12700">
            <a:solidFill>
              <a:srgbClr val="D1D5D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4713732"/>
            <a:ext cx="1481328" cy="32004"/>
          </a:xfrm>
          <a:prstGeom prst="rect">
            <a:avLst/>
          </a:prstGeom>
          <a:solidFill>
            <a:srgbClr val="C9302C"/>
          </a:solidFill>
          <a:ln w="12700">
            <a:solidFill>
              <a:srgbClr val="C9302C">
                <a:alpha val="0"/>
              </a:srgbClr>
            </a:solidFill>
            <a:prstDash val="solid"/>
          </a:ln>
        </p:spPr>
      </p:sp>
      <p:sp>
        <p:nvSpPr>
          <p:cNvPr id="8" name="slide-title:content"/>
          <p:cNvSpPr txBox="1"/>
          <p:nvPr/>
        </p:nvSpPr>
        <p:spPr>
          <a:xfrm>
            <a:off x="457200" y="173736"/>
            <a:ext cx="8229600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283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一个线性层，反向计算两种梯度</a:t>
            </a:r>
            <a:endParaRPr lang="en-US" sz="2800" dirty="0"/>
          </a:p>
        </p:txBody>
      </p:sp>
      <p:sp>
        <p:nvSpPr>
          <p:cNvPr id="9" name="support:slide-subtitle"/>
          <p:cNvSpPr txBox="1"/>
          <p:nvPr/>
        </p:nvSpPr>
        <p:spPr>
          <a:xfrm>
            <a:off x="457200" y="7386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前向：X [M,K] × W [K,N] → Y [M,N]；反向接收：dY [M,N]。</a:t>
            </a:r>
            <a:endParaRPr lang="en-US" sz="1300" dirty="0"/>
          </a:p>
        </p:txBody>
      </p:sp>
      <p:sp>
        <p:nvSpPr>
          <p:cNvPr id="10" name="role-contract-slot:comparison:option-0"/>
          <p:cNvSpPr/>
          <p:nvPr/>
        </p:nvSpPr>
        <p:spPr>
          <a:xfrm>
            <a:off x="457200" y="1415288"/>
            <a:ext cx="3950208" cy="204663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1" name="comparison:0:title"/>
          <p:cNvSpPr txBox="1"/>
          <p:nvPr/>
        </p:nvSpPr>
        <p:spPr>
          <a:xfrm>
            <a:off x="603504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③ 权重梯度 dW</a:t>
            </a:r>
            <a:endParaRPr lang="en-US" sz="1600" dirty="0"/>
          </a:p>
        </p:txBody>
      </p:sp>
      <p:sp>
        <p:nvSpPr>
          <p:cNvPr id="12" name="comparison:0:body"/>
          <p:cNvSpPr txBox="1"/>
          <p:nvPr/>
        </p:nvSpPr>
        <p:spPr>
          <a:xfrm>
            <a:off x="603504" y="2050288"/>
            <a:ext cx="3657600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 = Xᵀ × dY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输入：Xᵀ [K,M]、dY [M,N]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输出：dW [K,N]，与 W 同形状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作用：供优化器更新当前层权重</a:t>
            </a:r>
            <a:endParaRPr lang="en-US" sz="1600" dirty="0"/>
          </a:p>
        </p:txBody>
      </p:sp>
      <p:sp>
        <p:nvSpPr>
          <p:cNvPr id="13" name="role-contract-slot:comparison:option-1"/>
          <p:cNvSpPr/>
          <p:nvPr/>
        </p:nvSpPr>
        <p:spPr>
          <a:xfrm>
            <a:off x="4736592" y="1415288"/>
            <a:ext cx="3950208" cy="2046630"/>
          </a:xfrm>
          <a:prstGeom prst="rect">
            <a:avLst/>
          </a:prstGeom>
          <a:solidFill>
            <a:srgbClr val="FFFFFF"/>
          </a:solidFill>
          <a:ln w="8255">
            <a:solidFill>
              <a:srgbClr val="D1D5DB"/>
            </a:solidFill>
            <a:prstDash val="solid"/>
          </a:ln>
        </p:spPr>
      </p:sp>
      <p:sp>
        <p:nvSpPr>
          <p:cNvPr id="14" name="comparison:1:title"/>
          <p:cNvSpPr txBox="1"/>
          <p:nvPr/>
        </p:nvSpPr>
        <p:spPr>
          <a:xfrm>
            <a:off x="4882896" y="1561592"/>
            <a:ext cx="3657600" cy="397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C9302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④ 输入梯度 dX</a:t>
            </a:r>
            <a:endParaRPr lang="en-US" sz="1600" dirty="0"/>
          </a:p>
        </p:txBody>
      </p:sp>
      <p:sp>
        <p:nvSpPr>
          <p:cNvPr id="15" name="comparison:1:body"/>
          <p:cNvSpPr txBox="1"/>
          <p:nvPr/>
        </p:nvSpPr>
        <p:spPr>
          <a:xfrm>
            <a:off x="4882896" y="2050288"/>
            <a:ext cx="3657600" cy="1177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dX = dY × Wᵀ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输入：dY [M,N]、Wᵀ [N,K]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输出：dX [M,K]，与 X 同形状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B28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作用：将梯度继续传向前面的模块</a:t>
            </a:r>
            <a:endParaRPr lang="en-US" sz="1600" dirty="0"/>
          </a:p>
        </p:txBody>
      </p:sp>
      <p:sp>
        <p:nvSpPr>
          <p:cNvPr id="16" name="role-contract-slot:comparison:verdict"/>
          <p:cNvSpPr/>
          <p:nvPr/>
        </p:nvSpPr>
        <p:spPr>
          <a:xfrm>
            <a:off x="1938528" y="3717747"/>
            <a:ext cx="5266944" cy="895401"/>
          </a:xfrm>
          <a:prstGeom prst="rect">
            <a:avLst/>
          </a:prstGeom>
          <a:solidFill>
            <a:srgbClr val="0B2545"/>
          </a:solidFill>
          <a:ln w="8255">
            <a:solidFill>
              <a:srgbClr val="C9302C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029968" y="3836772"/>
            <a:ext cx="5084064" cy="657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⑤ 接力：本层 dX → 前一运算的输出梯度 dY → 继续反向传播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" y="4814316"/>
            <a:ext cx="8229600" cy="18288"/>
          </a:xfrm>
          <a:prstGeom prst="rect">
            <a:avLst/>
          </a:prstGeom>
          <a:solidFill>
            <a:srgbClr val="D1D5D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metadata:footer-sources"/>
          <p:cNvSpPr txBox="1"/>
          <p:nvPr/>
        </p:nvSpPr>
        <p:spPr>
          <a:xfrm>
            <a:off x="457200" y="4869180"/>
            <a:ext cx="7580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Microsoft YaHei" pitchFamily="34" charset="-122"/>
                <a:cs typeface="Calibri" pitchFamily="34" charset="-120"/>
              </a:rPr>
              <a:t>Sources: M：输入行数 · K：输入维度 · N：输出维度 · T：交换矩阵行列</a:t>
            </a:r>
            <a:endParaRPr lang="en-US" sz="900" dirty="0"/>
          </a:p>
        </p:txBody>
      </p:sp>
      <p:sp>
        <p:nvSpPr>
          <p:cNvPr id="20" name="metadata:footer-page-number"/>
          <p:cNvSpPr txBox="1"/>
          <p:nvPr/>
        </p:nvSpPr>
        <p:spPr>
          <a:xfrm>
            <a:off x="8183880" y="4869180"/>
            <a:ext cx="502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Forward FLOPs 与 Linear Backward</dc:title>
  <dc:subject/>
  <dc:creator>Presentation Team</dc:creator>
  <cp:lastModifiedBy>Presentation Team</cp:lastModifiedBy>
  <cp:revision>1</cp:revision>
  <dcterms:created xsi:type="dcterms:W3CDTF">2026-10-22T01:26:52Z</dcterms:created>
  <dcterms:modified xsi:type="dcterms:W3CDTF">2026-10-22T01:26:52Z</dcterms:modified>
</cp:coreProperties>
</file>